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13.xml" ContentType="application/vnd.openxmlformats-officedocument.theme+xml"/>
  <Override PartName="/ppt/theme/theme30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jpeg" ContentType="image/jpeg"/>
  <Override PartName="/ppt/media/image4.png" ContentType="image/png"/>
  <Override PartName="/ppt/media/image16.png" ContentType="image/png"/>
  <Override PartName="/ppt/media/image14.png" ContentType="image/png"/>
  <Override PartName="/ppt/media/image5.jpeg" ContentType="image/jpe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2.png" ContentType="image/png"/>
  <Override PartName="/ppt/media/image11.png" ContentType="image/png"/>
  <Override PartName="/ppt/media/image9.png" ContentType="image/png"/>
  <Override PartName="/ppt/media/image7.jpeg" ContentType="image/jpeg"/>
  <Override PartName="/ppt/media/image8.png" ContentType="image/png"/>
  <Override PartName="/ppt/media/image1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</p:sld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9452D7-C9E7-4DD6-9FC8-E2FC74F707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EBEC15-E16F-4136-ACE2-F49C9B09B9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677ECE3-B677-4C5F-AAA5-530B67E1FE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9AF28F9-BB6D-4713-A04E-42FFFFFD3C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3FCD0BA-1598-4069-A4B4-7D36764E13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7B72FD7-804F-4555-B50B-6129E140A9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5137CFB-64F6-471E-81EB-13E7689197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2F2638B-9362-4595-8737-A034B6BC34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B6C44B4-B45E-4C0D-A24C-221056CAB8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594F921-CA83-4A7E-888C-B3B8BB9105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E9F8161-09FE-4CB8-B18A-D9D0DFBD63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C0362E1-28D8-4D65-B054-DF85ECB682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8D837794-4D81-4C57-A49A-4A6DE08D41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C28C77B2-F04F-46FD-B725-AEC0EDFBFE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87D862D2-2BA7-4ABC-9E5A-C7F316200F6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C4CDF365-6F12-418D-9A86-1764899CF3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171661E-1EB4-461A-987E-2A0977E5A2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4B7292C5-9937-4916-B7EB-26CAC79493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DD835655-DE99-4178-A74A-E545CA45BA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6EAE3F04-7F7C-43FD-9991-030D3C45BC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C08EE02D-7EB3-4A83-997B-AF2F18CBA9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5131B6E4-023D-4CF4-B02F-190229F99B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E1972D19-ED62-4261-968B-30176DDA82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2C647A8A-C4C2-44DE-B397-77815CED60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C7886931-583A-453F-9F94-C2F9BEEB00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9805ACA4-6481-4B36-BDE1-1CF8E97DE8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D734339D-3820-4CDE-A77A-69D77A6084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16C0A904-87BD-4C20-BCF0-D74D75CD19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B9AD54A5-6DD7-44F0-BBF7-42C15EA6B2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6A3124AB-EDD4-49D3-AF40-A76A96B88E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883917A4-52DA-495C-B5DE-51C46CD18F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62F91936-16A7-4AEA-A524-B473C7C29E3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16E0D383-3ADA-4CB2-865D-AE00754E1E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20A59B07-001D-4086-AD90-3A1773AD7B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5F21F265-16AA-498C-AB71-A16E298B14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30A114C1-565E-476E-ACF0-0B6A4F264B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F76CA8-AC66-4D82-9C40-40D51F145B07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3A04E5-4E65-47A6-B241-A975E856A6C3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809041-B9D5-4EAA-9590-59C01FD8C951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B5728E-1DF0-470F-8CB9-6A90974EE88F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D5EE00-26CF-47B4-86BD-2563A2996AA0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54D275-8FCD-4987-9178-EDA3D5224927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8ECEC4-0169-48B7-9012-DD5A5926C516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CE6A60-732E-4B1B-9643-33EE4AB49E4E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7D5A0E-301A-4539-865B-AD119CD1B658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06983C-4182-4DFC-A51E-C8C259AB85D4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C5A320-D6B5-4388-BB7E-61BBCE8E5DE2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0FB9EC-3B34-4BC0-B2FC-3A64893CDF33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6EB0AC-BC4B-45C5-A0D4-8AB8127CD81D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7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4D8F41-D3C1-4AF3-B404-23556D6BF782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14D762-2B5E-4717-8543-20411C2056FB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8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9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DB8100-FB26-4FE2-9A1C-FB8787B30569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10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5E2D6F-22F7-4FC3-A7EC-0D7DE26B3A4B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8DEC7B-1E7A-496F-80A9-BB4BBE6940B6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248A76-07F9-44D7-822F-AE105B3012F4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1CC295-F5BE-45BC-8353-25CD62990934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116B7E-5DC4-4EFA-AB66-4E36371F451E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F1273C-9A3B-4979-8BFC-046FD163ABD4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6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1F19B3-728E-4473-86F7-783B94AAA201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7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7EBD89-FAD3-4DA4-8082-6D5FDE55E02F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DE51DF-3B20-4AAA-BE84-E1A35CAC42B3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7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03FA6F-D1C9-46CB-8498-84824C5197B5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F2998D-48FB-4404-8412-D586105EE168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8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8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9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7F6CC0-4200-4BF2-9F69-E1AEAA3EB16F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10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969F47-599B-4512-8331-9D2A27CDC820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3DE729-BBAF-4045-9D4E-3C9B27477A68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42EB46-0351-46C8-B87B-A6C8ACC2580D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EF1283-98CC-4473-81D1-7EA8ACC91D0C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6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9BB49F-5029-4408-8F9B-D80084451137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8FCAC7-489D-4D0F-9A4F-119B6AAA71CA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6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35EE34-843A-48FD-99D5-1E94FF8CCBB3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7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78E5D2-06B2-4C4A-B491-C39317BEA6F7}" type="slidenum">
              <a:rPr b="0" lang="en-IN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jpe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201"/>
          <p:cNvSpPr/>
          <p:nvPr/>
        </p:nvSpPr>
        <p:spPr>
          <a:xfrm>
            <a:off x="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ectangle 215"/>
          <p:cNvSpPr/>
          <p:nvPr/>
        </p:nvSpPr>
        <p:spPr>
          <a:xfrm>
            <a:off x="4860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itle 2"/>
          <p:cNvSpPr/>
          <p:nvPr/>
        </p:nvSpPr>
        <p:spPr>
          <a:xfrm>
            <a:off x="720000" y="180000"/>
            <a:ext cx="927180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7777"/>
          </a:bodyPr>
          <a:p>
            <a:pPr>
              <a:lnSpc>
                <a:spcPct val="90000"/>
              </a:lnSpc>
            </a:pP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 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Rajiv Gandhi University of Knowledge</a:t>
            </a:r>
            <a:br>
              <a:rPr sz="4000"/>
            </a:b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	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  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	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	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	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    Technologies, Basar</a:t>
            </a:r>
            <a:br>
              <a:rPr sz="4000"/>
            </a:br>
            <a:br>
              <a:rPr sz="4000"/>
            </a:b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Computer Science and Engineering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3" name="Group 216"/>
          <p:cNvGrpSpPr/>
          <p:nvPr/>
        </p:nvGrpSpPr>
        <p:grpSpPr>
          <a:xfrm>
            <a:off x="-56520" y="0"/>
            <a:ext cx="4258440" cy="2598840"/>
            <a:chOff x="-56520" y="0"/>
            <a:chExt cx="4258440" cy="2598840"/>
          </a:xfrm>
        </p:grpSpPr>
        <p:sp>
          <p:nvSpPr>
            <p:cNvPr id="304" name="Freeform: Shape 206"/>
            <p:cNvSpPr/>
            <p:nvPr/>
          </p:nvSpPr>
          <p:spPr>
            <a:xfrm flipH="1">
              <a:off x="-56160" y="0"/>
              <a:ext cx="4258080" cy="2598840"/>
            </a:xfrm>
            <a:custGeom>
              <a:avLst/>
              <a:gdLst>
                <a:gd name="textAreaLeft" fmla="*/ 360 w 4258080"/>
                <a:gd name="textAreaRight" fmla="*/ 4258800 w 4258080"/>
                <a:gd name="textAreaTop" fmla="*/ 0 h 2598840"/>
                <a:gd name="textAreaBottom" fmla="*/ 2599200 h 259884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5" name="Freeform: Shape 217"/>
            <p:cNvSpPr/>
            <p:nvPr/>
          </p:nvSpPr>
          <p:spPr>
            <a:xfrm flipH="1">
              <a:off x="-56160" y="0"/>
              <a:ext cx="4218480" cy="2381760"/>
            </a:xfrm>
            <a:custGeom>
              <a:avLst/>
              <a:gdLst>
                <a:gd name="textAreaLeft" fmla="*/ 360 w 4218480"/>
                <a:gd name="textAreaRight" fmla="*/ 4219200 w 4218480"/>
                <a:gd name="textAreaTop" fmla="*/ 0 h 2381760"/>
                <a:gd name="textAreaBottom" fmla="*/ 2382120 h 238176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6" name="Freeform: Shape 218"/>
            <p:cNvSpPr/>
            <p:nvPr/>
          </p:nvSpPr>
          <p:spPr>
            <a:xfrm flipH="1">
              <a:off x="-56880" y="0"/>
              <a:ext cx="4214520" cy="2339280"/>
            </a:xfrm>
            <a:custGeom>
              <a:avLst/>
              <a:gdLst>
                <a:gd name="textAreaLeft" fmla="*/ -360 w 4214520"/>
                <a:gd name="textAreaRight" fmla="*/ 4214520 w 4214520"/>
                <a:gd name="textAreaTop" fmla="*/ 0 h 2339280"/>
                <a:gd name="textAreaBottom" fmla="*/ 2339640 h 233928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7" name="Freeform: Shape 219"/>
            <p:cNvSpPr/>
            <p:nvPr/>
          </p:nvSpPr>
          <p:spPr>
            <a:xfrm flipH="1">
              <a:off x="-56880" y="0"/>
              <a:ext cx="4214520" cy="2339280"/>
            </a:xfrm>
            <a:custGeom>
              <a:avLst/>
              <a:gdLst>
                <a:gd name="textAreaLeft" fmla="*/ -360 w 4214520"/>
                <a:gd name="textAreaRight" fmla="*/ 4214520 w 4214520"/>
                <a:gd name="textAreaTop" fmla="*/ 0 h 2339280"/>
                <a:gd name="textAreaBottom" fmla="*/ 2339640 h 233928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204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8" name="Group 211"/>
          <p:cNvGrpSpPr/>
          <p:nvPr/>
        </p:nvGrpSpPr>
        <p:grpSpPr>
          <a:xfrm>
            <a:off x="6161040" y="62280"/>
            <a:ext cx="6024600" cy="6791760"/>
            <a:chOff x="6161040" y="62280"/>
            <a:chExt cx="6024600" cy="6791760"/>
          </a:xfrm>
        </p:grpSpPr>
        <p:sp>
          <p:nvSpPr>
            <p:cNvPr id="309" name="Freeform: Shape 212"/>
            <p:cNvSpPr/>
            <p:nvPr/>
          </p:nvSpPr>
          <p:spPr>
            <a:xfrm>
              <a:off x="6181920" y="81720"/>
              <a:ext cx="6003720" cy="6772320"/>
            </a:xfrm>
            <a:custGeom>
              <a:avLst/>
              <a:gdLst>
                <a:gd name="textAreaLeft" fmla="*/ 0 w 6003720"/>
                <a:gd name="textAreaRight" fmla="*/ 6004080 w 6003720"/>
                <a:gd name="textAreaTop" fmla="*/ 0 h 6772320"/>
                <a:gd name="textAreaBottom" fmla="*/ 6772680 h 6772320"/>
              </a:gdLst>
              <a:ahLst/>
              <a:rect l="textAreaLeft" t="textAreaTop" r="textAreaRight" b="textAreaBottom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Freeform: Shape 213"/>
            <p:cNvSpPr/>
            <p:nvPr/>
          </p:nvSpPr>
          <p:spPr>
            <a:xfrm>
              <a:off x="6161040" y="62280"/>
              <a:ext cx="6024600" cy="6791760"/>
            </a:xfrm>
            <a:custGeom>
              <a:avLst/>
              <a:gdLst>
                <a:gd name="textAreaLeft" fmla="*/ 0 w 6024600"/>
                <a:gd name="textAreaRight" fmla="*/ 6024960 w 6024600"/>
                <a:gd name="textAreaTop" fmla="*/ 0 h 6791760"/>
                <a:gd name="textAreaBottom" fmla="*/ 6792120 h 6791760"/>
              </a:gdLst>
              <a:ahLst/>
              <a:rect l="textAreaLeft" t="textAreaTop" r="textAreaRight" b="textAreaBottom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1" name="Freeform: Shape 214"/>
            <p:cNvSpPr/>
            <p:nvPr/>
          </p:nvSpPr>
          <p:spPr>
            <a:xfrm>
              <a:off x="6163560" y="81720"/>
              <a:ext cx="6022080" cy="6772320"/>
            </a:xfrm>
            <a:custGeom>
              <a:avLst/>
              <a:gdLst>
                <a:gd name="textAreaLeft" fmla="*/ 0 w 6022080"/>
                <a:gd name="textAreaRight" fmla="*/ 6022440 w 6022080"/>
                <a:gd name="textAreaTop" fmla="*/ 0 h 6772320"/>
                <a:gd name="textAreaBottom" fmla="*/ 6772680 h 6772320"/>
              </a:gdLst>
              <a:ahLst/>
              <a:rect l="textAreaLeft" t="textAreaTop" r="textAreaRight" b="textAreaBottom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720000" y="2160000"/>
            <a:ext cx="9356400" cy="251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0e2841"/>
                </a:solidFill>
                <a:latin typeface="Aptos Display"/>
              </a:rPr>
              <a:t>SMART HEALTH ADVISOR USING 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</a:rPr>
              <a:t>	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</a:rPr>
              <a:t>	</a:t>
            </a:r>
            <a:r>
              <a:rPr b="1" lang="en-US" sz="4000" spc="-1" strike="noStrike">
                <a:solidFill>
                  <a:srgbClr val="0e2841"/>
                </a:solidFill>
                <a:latin typeface="Aptos Display"/>
              </a:rPr>
              <a:t>MACHINE LEARNING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" descr=""/>
          <p:cNvPicPr/>
          <p:nvPr/>
        </p:nvPicPr>
        <p:blipFill>
          <a:blip r:embed="rId1"/>
          <a:stretch/>
        </p:blipFill>
        <p:spPr>
          <a:xfrm>
            <a:off x="9360000" y="81720"/>
            <a:ext cx="2156400" cy="2156400"/>
          </a:xfrm>
          <a:prstGeom prst="rect">
            <a:avLst/>
          </a:prstGeom>
          <a:ln w="0">
            <a:noFill/>
          </a:ln>
        </p:spPr>
      </p:pic>
      <p:sp>
        <p:nvSpPr>
          <p:cNvPr id="314" name=""/>
          <p:cNvSpPr/>
          <p:nvPr/>
        </p:nvSpPr>
        <p:spPr>
          <a:xfrm>
            <a:off x="793800" y="4584240"/>
            <a:ext cx="3882600" cy="24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Team Members: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G. Abhilash (B200232)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G. Purushotham (B201058)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R. Akhil (B201226)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7560000" y="4771800"/>
            <a:ext cx="4496400" cy="8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	</a:t>
            </a: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Under the Guidance of: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 </a:t>
            </a: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	</a:t>
            </a: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Mrs. Geetla Srujana Mam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	</a:t>
            </a: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     </a:t>
            </a:r>
            <a:r>
              <a:rPr b="1" lang="en-IN" sz="1800" spc="-1" strike="noStrike">
                <a:solidFill>
                  <a:srgbClr val="000000"/>
                </a:solidFill>
                <a:latin typeface="Noto Sans"/>
                <a:ea typeface="DejaVu Sans"/>
              </a:rPr>
              <a:t>Assistant Professor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0">
                                  <p:stCondLst>
                                    <p:cond delay="50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4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67"/>
          <p:cNvSpPr/>
          <p:nvPr/>
        </p:nvSpPr>
        <p:spPr>
          <a:xfrm>
            <a:off x="0" y="0"/>
            <a:ext cx="1218816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ectangle 69"/>
          <p:cNvSpPr/>
          <p:nvPr/>
        </p:nvSpPr>
        <p:spPr>
          <a:xfrm>
            <a:off x="36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804600" y="802800"/>
            <a:ext cx="4762440" cy="145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rgbClr val="0e2841"/>
                </a:solidFill>
                <a:latin typeface="Aptos Display"/>
              </a:rPr>
              <a:t>INTRODUCTION: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540000" y="2160000"/>
            <a:ext cx="6931800" cy="377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  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The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Smart Health Advisor Using Machine Learning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is an intelligent system that analyzes user-provided symptoms to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predict possible diseases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and provide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personalized health guidance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  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By leveraging machine learning algorithms, it enables users to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receive instant, reliable, and affordable medical insights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, even in areas with limited healthcare access.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  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This project aims to make healthcare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faster, smarter, and preventive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, helping individuals monitor their health effectively and take early precautions.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0" name="Group 71"/>
          <p:cNvGrpSpPr/>
          <p:nvPr/>
        </p:nvGrpSpPr>
        <p:grpSpPr>
          <a:xfrm>
            <a:off x="5818320" y="-16560"/>
            <a:ext cx="6369840" cy="6870600"/>
            <a:chOff x="5818320" y="-16560"/>
            <a:chExt cx="6369840" cy="6870600"/>
          </a:xfrm>
        </p:grpSpPr>
        <p:sp>
          <p:nvSpPr>
            <p:cNvPr id="321" name="Freeform: Shape 72"/>
            <p:cNvSpPr/>
            <p:nvPr/>
          </p:nvSpPr>
          <p:spPr>
            <a:xfrm>
              <a:off x="5818320" y="-16560"/>
              <a:ext cx="6369840" cy="6870600"/>
            </a:xfrm>
            <a:custGeom>
              <a:avLst/>
              <a:gdLst>
                <a:gd name="textAreaLeft" fmla="*/ 0 w 6369840"/>
                <a:gd name="textAreaRight" fmla="*/ 6370200 w 6369840"/>
                <a:gd name="textAreaTop" fmla="*/ 0 h 6870600"/>
                <a:gd name="textAreaBottom" fmla="*/ 6870960 h 6870600"/>
              </a:gdLst>
              <a:ahLst/>
              <a:rect l="textAreaLeft" t="textAreaTop" r="textAreaRight" b="textAreaBottom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2" name="Freeform: Shape 73"/>
            <p:cNvSpPr/>
            <p:nvPr/>
          </p:nvSpPr>
          <p:spPr>
            <a:xfrm>
              <a:off x="5865120" y="296640"/>
              <a:ext cx="6322680" cy="6557400"/>
            </a:xfrm>
            <a:custGeom>
              <a:avLst/>
              <a:gdLst>
                <a:gd name="textAreaLeft" fmla="*/ 0 w 6322680"/>
                <a:gd name="textAreaRight" fmla="*/ 6323040 w 6322680"/>
                <a:gd name="textAreaTop" fmla="*/ 0 h 6557400"/>
                <a:gd name="textAreaBottom" fmla="*/ 6557760 h 6557400"/>
              </a:gdLst>
              <a:ahLst/>
              <a:rect l="textAreaLeft" t="textAreaTop" r="textAreaRight" b="textAreaBottom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3" name="Freeform: Shape 74"/>
            <p:cNvSpPr/>
            <p:nvPr/>
          </p:nvSpPr>
          <p:spPr>
            <a:xfrm>
              <a:off x="5870160" y="336240"/>
              <a:ext cx="6317640" cy="6517800"/>
            </a:xfrm>
            <a:custGeom>
              <a:avLst/>
              <a:gdLst>
                <a:gd name="textAreaLeft" fmla="*/ 0 w 6317640"/>
                <a:gd name="textAreaRight" fmla="*/ 6318000 w 6317640"/>
                <a:gd name="textAreaTop" fmla="*/ 0 h 6517800"/>
                <a:gd name="textAreaBottom" fmla="*/ 6518160 h 6517800"/>
              </a:gdLst>
              <a:ahLst/>
              <a:rect l="textAreaLeft" t="textAreaTop" r="textAreaRight" b="textAreaBottom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" name="Freeform: Shape 75"/>
            <p:cNvSpPr/>
            <p:nvPr/>
          </p:nvSpPr>
          <p:spPr>
            <a:xfrm>
              <a:off x="5870160" y="336240"/>
              <a:ext cx="6317640" cy="6517800"/>
            </a:xfrm>
            <a:custGeom>
              <a:avLst/>
              <a:gdLst>
                <a:gd name="textAreaLeft" fmla="*/ 0 w 6317640"/>
                <a:gd name="textAreaRight" fmla="*/ 6318000 w 6317640"/>
                <a:gd name="textAreaTop" fmla="*/ 0 h 6517800"/>
                <a:gd name="textAreaBottom" fmla="*/ 6518160 h 6517800"/>
              </a:gdLst>
              <a:ahLst/>
              <a:rect l="textAreaLeft" t="textAreaTop" r="textAreaRight" b="textAreaBottom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25" name="Graphic 36" descr="Heart with Pulse"/>
          <p:cNvPicPr/>
          <p:nvPr/>
        </p:nvPicPr>
        <p:blipFill>
          <a:blip r:embed="rId1"/>
          <a:stretch/>
        </p:blipFill>
        <p:spPr>
          <a:xfrm>
            <a:off x="7708320" y="1819800"/>
            <a:ext cx="4138200" cy="413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422"/>
          <p:cNvSpPr/>
          <p:nvPr/>
        </p:nvSpPr>
        <p:spPr>
          <a:xfrm>
            <a:off x="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ectangle 424"/>
          <p:cNvSpPr/>
          <p:nvPr/>
        </p:nvSpPr>
        <p:spPr>
          <a:xfrm>
            <a:off x="36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8" name="Group 426"/>
          <p:cNvGrpSpPr/>
          <p:nvPr/>
        </p:nvGrpSpPr>
        <p:grpSpPr>
          <a:xfrm>
            <a:off x="-21960" y="508680"/>
            <a:ext cx="5213880" cy="6235560"/>
            <a:chOff x="-21960" y="508680"/>
            <a:chExt cx="5213880" cy="6235560"/>
          </a:xfrm>
        </p:grpSpPr>
        <p:sp>
          <p:nvSpPr>
            <p:cNvPr id="329" name="Freeform: Shape 427"/>
            <p:cNvSpPr/>
            <p:nvPr/>
          </p:nvSpPr>
          <p:spPr>
            <a:xfrm>
              <a:off x="-21960" y="508680"/>
              <a:ext cx="5183280" cy="6235560"/>
            </a:xfrm>
            <a:custGeom>
              <a:avLst/>
              <a:gdLst>
                <a:gd name="textAreaLeft" fmla="*/ 0 w 5183280"/>
                <a:gd name="textAreaRight" fmla="*/ 5183640 w 5183280"/>
                <a:gd name="textAreaTop" fmla="*/ 0 h 6235560"/>
                <a:gd name="textAreaBottom" fmla="*/ 6235920 h 6235560"/>
              </a:gdLst>
              <a:ahLst/>
              <a:rect l="textAreaLeft" t="textAreaTop" r="textAreaRight" b="textAreaBottom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" name="Freeform: Shape 428"/>
            <p:cNvSpPr/>
            <p:nvPr/>
          </p:nvSpPr>
          <p:spPr>
            <a:xfrm>
              <a:off x="-21960" y="555120"/>
              <a:ext cx="5211720" cy="6103440"/>
            </a:xfrm>
            <a:custGeom>
              <a:avLst/>
              <a:gdLst>
                <a:gd name="textAreaLeft" fmla="*/ 0 w 5211720"/>
                <a:gd name="textAreaRight" fmla="*/ 5212080 w 5211720"/>
                <a:gd name="textAreaTop" fmla="*/ 0 h 6103440"/>
                <a:gd name="textAreaBottom" fmla="*/ 6103800 h 6103440"/>
              </a:gdLst>
              <a:ahLst/>
              <a:rect l="textAreaLeft" t="textAreaTop" r="textAreaRight" b="textAreaBottom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Freeform: Shape 429"/>
            <p:cNvSpPr/>
            <p:nvPr/>
          </p:nvSpPr>
          <p:spPr>
            <a:xfrm>
              <a:off x="-21960" y="577080"/>
              <a:ext cx="5213880" cy="6096240"/>
            </a:xfrm>
            <a:custGeom>
              <a:avLst/>
              <a:gdLst>
                <a:gd name="textAreaLeft" fmla="*/ 0 w 5213880"/>
                <a:gd name="textAreaRight" fmla="*/ 5214240 w 5213880"/>
                <a:gd name="textAreaTop" fmla="*/ 0 h 6096240"/>
                <a:gd name="textAreaBottom" fmla="*/ 6096600 h 6096240"/>
              </a:gdLst>
              <a:ahLst/>
              <a:rect l="textAreaLeft" t="textAreaTop" r="textAreaRight" b="textAreaBottom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" name="Freeform: Shape 430"/>
            <p:cNvSpPr/>
            <p:nvPr/>
          </p:nvSpPr>
          <p:spPr>
            <a:xfrm>
              <a:off x="-21960" y="577080"/>
              <a:ext cx="5213880" cy="6096240"/>
            </a:xfrm>
            <a:custGeom>
              <a:avLst/>
              <a:gdLst>
                <a:gd name="textAreaLeft" fmla="*/ 0 w 5213880"/>
                <a:gd name="textAreaRight" fmla="*/ 5214240 w 5213880"/>
                <a:gd name="textAreaTop" fmla="*/ 0 h 6096240"/>
                <a:gd name="textAreaBottom" fmla="*/ 6096600 h 6096240"/>
              </a:gdLst>
              <a:ahLst/>
              <a:rect l="textAreaLeft" t="textAreaTop" r="textAreaRight" b="textAreaBottom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40080" y="1243080"/>
            <a:ext cx="3851640" cy="436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e2841"/>
                </a:solidFill>
                <a:latin typeface="Aptos Display"/>
              </a:rPr>
              <a:t>Machine Learning in Healthcare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5293800" y="720000"/>
            <a:ext cx="6894000" cy="593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  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Access to healthcare remains a global challenge, especially in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rural and developing regions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. Common issues include: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Delayed Diagnosis 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due to doctor shortages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High medical consultation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costs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Lack of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 health awareness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and preventive care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Unequal access between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urban and rural area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These problems often lead to late-stage disease detection and unnecessary suffering.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Hence, there is a need for an AI-based system that provides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early, accurate, and accessible health predictions.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itle 4"/>
          <p:cNvSpPr/>
          <p:nvPr/>
        </p:nvSpPr>
        <p:spPr>
          <a:xfrm>
            <a:off x="5360400" y="517320"/>
            <a:ext cx="5936400" cy="14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3600" spc="-1" strike="noStrike">
                <a:solidFill>
                  <a:srgbClr val="0e2841"/>
                </a:solidFill>
                <a:latin typeface="Aptos Display"/>
                <a:ea typeface="DejaVu Sans"/>
              </a:rPr>
              <a:t>Problem Statement: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icture 58"/>
          <p:cNvSpPr/>
          <p:nvPr/>
        </p:nvSpPr>
        <p:spPr>
          <a:xfrm>
            <a:off x="-360000" y="-360000"/>
            <a:ext cx="6200280" cy="5110560"/>
          </a:xfrm>
          <a:custGeom>
            <a:avLst/>
            <a:gdLst>
              <a:gd name="textAreaLeft" fmla="*/ 0 w 6200280"/>
              <a:gd name="textAreaRight" fmla="*/ 6200640 w 6200280"/>
              <a:gd name="textAreaTop" fmla="*/ 0 h 5110560"/>
              <a:gd name="textAreaBottom" fmla="*/ 5110920 h 5110560"/>
            </a:gdLst>
            <a:ahLst/>
            <a:rect l="textAreaLeft" t="textAreaTop" r="textAreaRight" b="textAreaBottom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360000" y="989280"/>
            <a:ext cx="4160160" cy="26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Aptos Display"/>
              </a:rPr>
              <a:t>Extended      </a:t>
            </a:r>
            <a:r>
              <a:rPr b="1" lang="en-US" sz="3600" spc="-1" strike="noStrike">
                <a:solidFill>
                  <a:srgbClr val="000000"/>
                </a:solidFill>
                <a:latin typeface="Aptos Display"/>
              </a:rPr>
              <a:t>	</a:t>
            </a:r>
            <a:r>
              <a:rPr b="1" lang="en-US" sz="3600" spc="-1" strike="noStrike">
                <a:solidFill>
                  <a:srgbClr val="000000"/>
                </a:solidFill>
                <a:latin typeface="Aptos Display"/>
              </a:rPr>
              <a:t>	</a:t>
            </a:r>
            <a:r>
              <a:rPr b="1" lang="en-US" sz="3600" spc="-1" strike="noStrike">
                <a:solidFill>
                  <a:srgbClr val="000000"/>
                </a:solidFill>
                <a:latin typeface="Aptos Display"/>
              </a:rPr>
              <a:t>Features: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8" name="Diagram2"/>
          <p:cNvGrpSpPr/>
          <p:nvPr/>
        </p:nvGrpSpPr>
        <p:grpSpPr>
          <a:xfrm>
            <a:off x="6272640" y="-485280"/>
            <a:ext cx="5325120" cy="4053600"/>
            <a:chOff x="6272640" y="-485280"/>
            <a:chExt cx="5325120" cy="4053600"/>
          </a:xfrm>
        </p:grpSpPr>
        <p:sp>
          <p:nvSpPr>
            <p:cNvPr id="339" name=""/>
            <p:cNvSpPr/>
            <p:nvPr/>
          </p:nvSpPr>
          <p:spPr>
            <a:xfrm>
              <a:off x="6272640" y="-485280"/>
              <a:ext cx="5325120" cy="40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"/>
            <p:cNvSpPr/>
            <p:nvPr/>
          </p:nvSpPr>
          <p:spPr>
            <a:xfrm>
              <a:off x="6273360" y="698040"/>
              <a:ext cx="2279880" cy="144648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ed8256"/>
                </a:gs>
                <a:gs pos="100000">
                  <a:srgbClr val="f16e28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" name=""/>
            <p:cNvSpPr/>
            <p:nvPr/>
          </p:nvSpPr>
          <p:spPr>
            <a:xfrm>
              <a:off x="6527160" y="939240"/>
              <a:ext cx="2279880" cy="1446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12700">
              <a:solidFill>
                <a:srgbClr val="e97132"/>
              </a:solidFill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/>
            <a:fillRef idx="0"/>
            <a:effectRef idx="2"/>
            <a:fontRef idx="minor"/>
          </p:style>
          <p:txBody>
            <a:bodyPr numCol="1" spcCol="1440" lIns="107280" rIns="64800" tIns="107280" bIns="107280" anchor="ctr">
              <a:noAutofit/>
            </a:bodyPr>
            <a:p>
              <a:pPr algn="ctr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Health Report Analyzer: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en-US" sz="1800" spc="-1" strike="noStrike">
                  <a:solidFill>
                    <a:schemeClr val="dk1"/>
                  </a:solidFill>
                  <a:latin typeface="Calibri"/>
                  <a:ea typeface="DejaVu Sans"/>
                </a:rPr>
                <a:t>Analyzes medical reports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"/>
            <p:cNvSpPr/>
            <p:nvPr/>
          </p:nvSpPr>
          <p:spPr>
            <a:xfrm>
              <a:off x="9064080" y="698040"/>
              <a:ext cx="2279880" cy="144648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ed8256"/>
                </a:gs>
                <a:gs pos="100000">
                  <a:srgbClr val="f16e28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"/>
            <p:cNvSpPr/>
            <p:nvPr/>
          </p:nvSpPr>
          <p:spPr>
            <a:xfrm>
              <a:off x="9317880" y="939240"/>
              <a:ext cx="2279880" cy="1446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12700">
              <a:solidFill>
                <a:srgbClr val="e97132"/>
              </a:solidFill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/>
            <a:fillRef idx="0"/>
            <a:effectRef idx="2"/>
            <a:fontRef idx="minor"/>
          </p:style>
          <p:txBody>
            <a:bodyPr numCol="1" spcCol="1440" lIns="107280" rIns="64800" tIns="107280" bIns="107280" anchor="ctr">
              <a:noAutofit/>
            </a:bodyPr>
            <a:p>
              <a:pPr algn="ctr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rgbClr val="0e2841"/>
                  </a:solidFill>
                  <a:latin typeface="Aptos"/>
                  <a:ea typeface="DejaVu Sans"/>
                </a:rPr>
                <a:t>voice-based symptom</a:t>
              </a:r>
              <a:r>
                <a:rPr b="1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: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90000"/>
                </a:lnSpc>
                <a:spcAft>
                  <a:spcPts val="595"/>
                </a:spcAft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Voice to text of symptoms.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" name="Diagram 1"/>
          <p:cNvGrpSpPr/>
          <p:nvPr/>
        </p:nvGrpSpPr>
        <p:grpSpPr>
          <a:xfrm>
            <a:off x="6272640" y="2514600"/>
            <a:ext cx="5325120" cy="4053600"/>
            <a:chOff x="6272640" y="2514600"/>
            <a:chExt cx="5325120" cy="4053600"/>
          </a:xfrm>
        </p:grpSpPr>
        <p:sp>
          <p:nvSpPr>
            <p:cNvPr id="345" name=""/>
            <p:cNvSpPr/>
            <p:nvPr/>
          </p:nvSpPr>
          <p:spPr>
            <a:xfrm>
              <a:off x="6272640" y="2514600"/>
              <a:ext cx="5325120" cy="40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" name=""/>
            <p:cNvSpPr/>
            <p:nvPr/>
          </p:nvSpPr>
          <p:spPr>
            <a:xfrm>
              <a:off x="6273360" y="3697920"/>
              <a:ext cx="2279880" cy="144648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ed8256"/>
                </a:gs>
                <a:gs pos="100000">
                  <a:srgbClr val="f16e28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" name=""/>
            <p:cNvSpPr/>
            <p:nvPr/>
          </p:nvSpPr>
          <p:spPr>
            <a:xfrm>
              <a:off x="6527160" y="3939120"/>
              <a:ext cx="2279880" cy="1446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12700">
              <a:solidFill>
                <a:srgbClr val="e97132"/>
              </a:solidFill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/>
            <a:fillRef idx="0"/>
            <a:effectRef idx="2"/>
            <a:fontRef idx="minor"/>
          </p:style>
          <p:txBody>
            <a:bodyPr numCol="1" spcCol="1440" lIns="107280" rIns="64800" tIns="107280" bIns="107280" anchor="ctr">
              <a:noAutofit/>
            </a:bodyPr>
            <a:p>
              <a:pPr algn="ctr">
                <a:lnSpc>
                  <a:spcPct val="90000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confidence percentage: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 Based on confidence percentage disease prediction.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" name=""/>
            <p:cNvSpPr/>
            <p:nvPr/>
          </p:nvSpPr>
          <p:spPr>
            <a:xfrm>
              <a:off x="9064080" y="3697920"/>
              <a:ext cx="2279880" cy="144648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ed8256"/>
                </a:gs>
                <a:gs pos="100000">
                  <a:srgbClr val="f16e28"/>
                </a:gs>
              </a:gsLst>
              <a:lin ang="5400000"/>
            </a:gradFill>
            <a:ln w="0">
              <a:noFill/>
            </a:ln>
            <a:effectLst>
              <a:outerShdw algn="ctr" blurRad="57240" dir="5400000" dist="19080" rotWithShape="0">
                <a:srgbClr val="000000">
                  <a:alpha val="63000"/>
                </a:srgbClr>
              </a:outerShdw>
            </a:effectLst>
          </p:spPr>
          <p:style>
            <a:lnRef idx="0"/>
            <a:fillRef idx="0"/>
            <a:effectRef idx="3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9" name=""/>
            <p:cNvSpPr/>
            <p:nvPr/>
          </p:nvSpPr>
          <p:spPr>
            <a:xfrm>
              <a:off x="9317880" y="3939120"/>
              <a:ext cx="2279880" cy="1446480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90000"/>
                <a:hueOff val="0"/>
                <a:satOff val="0"/>
                <a:lumOff val="0"/>
                <a:alphaOff val="0"/>
              </a:schemeClr>
            </a:solidFill>
            <a:ln w="12700">
              <a:solidFill>
                <a:srgbClr val="e97132"/>
              </a:solidFill>
            </a:ln>
            <a:effectLst>
              <a:outerShdw blurRad="39960" dir="5400000" dist="23040" rotWithShape="0">
                <a:srgbClr val="000000">
                  <a:alpha val="35000"/>
                </a:srgbClr>
              </a:outerShdw>
            </a:effectLst>
          </p:spPr>
          <p:style>
            <a:lnRef idx="1"/>
            <a:fillRef idx="0"/>
            <a:effectRef idx="2"/>
            <a:fontRef idx="minor"/>
          </p:style>
          <p:txBody>
            <a:bodyPr numCol="1" spcCol="1440" lIns="107280" rIns="64800" tIns="107280" bIns="107280" anchor="ctr">
              <a:noAutofit/>
            </a:bodyPr>
            <a:p>
              <a:pPr algn="ctr">
                <a:lnSpc>
                  <a:spcPct val="90000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1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Health Tips Based on Disease: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90000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 </a:t>
              </a:r>
              <a:r>
                <a:rPr b="0" lang="en-US" sz="1800" spc="-1" strike="noStrike">
                  <a:solidFill>
                    <a:srgbClr val="000000"/>
                  </a:solidFill>
                  <a:latin typeface="Arial"/>
                  <a:ea typeface="DejaVu Sans"/>
                </a:rPr>
                <a:t>Health tips based on tips.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angle 68"/>
          <p:cNvSpPr/>
          <p:nvPr/>
        </p:nvSpPr>
        <p:spPr>
          <a:xfrm>
            <a:off x="-8280" y="27720"/>
            <a:ext cx="1218816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Freeform: Shape 70"/>
          <p:cNvSpPr/>
          <p:nvPr/>
        </p:nvSpPr>
        <p:spPr>
          <a:xfrm>
            <a:off x="0" y="0"/>
            <a:ext cx="4815000" cy="6854040"/>
          </a:xfrm>
          <a:custGeom>
            <a:avLst/>
            <a:gdLst>
              <a:gd name="textAreaLeft" fmla="*/ 0 w 4815000"/>
              <a:gd name="textAreaRight" fmla="*/ 4815360 w 4815000"/>
              <a:gd name="textAreaTop" fmla="*/ 0 h 6854040"/>
              <a:gd name="textAreaBottom" fmla="*/ 6854400 h 6854040"/>
            </a:gdLst>
            <a:ahLst/>
            <a:rect l="textAreaLeft" t="textAreaTop" r="textAreaRight" b="textAreaBottom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efefef"/>
            </a:solidFill>
          </a:ln>
          <a:effectLst>
            <a:outerShdw algn="l" blurRad="88920" dist="38160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Freeform: Shape 72"/>
          <p:cNvSpPr/>
          <p:nvPr/>
        </p:nvSpPr>
        <p:spPr>
          <a:xfrm>
            <a:off x="0" y="0"/>
            <a:ext cx="4807440" cy="6854040"/>
          </a:xfrm>
          <a:custGeom>
            <a:avLst/>
            <a:gdLst>
              <a:gd name="textAreaLeft" fmla="*/ 0 w 4807440"/>
              <a:gd name="textAreaRight" fmla="*/ 4807800 w 4807440"/>
              <a:gd name="textAreaTop" fmla="*/ 0 h 6854040"/>
              <a:gd name="textAreaBottom" fmla="*/ 6854400 h 6854040"/>
            </a:gdLst>
            <a:ahLst/>
            <a:rect l="textAreaLeft" t="textAreaTop" r="textAreaRight" b="textAreaBottom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8600" y="1333080"/>
            <a:ext cx="4235040" cy="29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Aptos Display"/>
                <a:ea typeface="Noto Sans CJK SC"/>
              </a:rPr>
              <a:t>	</a:t>
            </a:r>
            <a:r>
              <a:rPr b="1" lang="en-US" sz="4000" spc="-1" strike="noStrike">
                <a:solidFill>
                  <a:srgbClr val="000000"/>
                </a:solidFill>
                <a:latin typeface="Aptos Display"/>
                <a:ea typeface="Noto Sans CJK SC"/>
              </a:rPr>
              <a:t>System </a:t>
            </a:r>
            <a:br>
              <a:rPr sz="4000"/>
            </a:br>
            <a:r>
              <a:rPr b="1" lang="en-US" sz="4000" spc="-1" strike="noStrike">
                <a:solidFill>
                  <a:srgbClr val="000000"/>
                </a:solidFill>
                <a:latin typeface="Aptos Display"/>
                <a:ea typeface="Noto Sans CJK SC"/>
              </a:rPr>
              <a:t>    Workflow:</a:t>
            </a:r>
            <a:br>
              <a:rPr sz="4000"/>
            </a:br>
            <a:r>
              <a:rPr b="1" lang="en-US" sz="4000" spc="-1" strike="noStrike">
                <a:solidFill>
                  <a:srgbClr val="000000"/>
                </a:solidFill>
                <a:latin typeface="Aptos Display"/>
                <a:ea typeface="Noto Sans CJK SC"/>
              </a:rPr>
              <a:t>	</a:t>
            </a:r>
            <a:br>
              <a:rPr sz="4000"/>
            </a:br>
            <a:r>
              <a:rPr b="1" lang="en-US" sz="4000" spc="-1" strike="noStrike">
                <a:solidFill>
                  <a:srgbClr val="000000"/>
                </a:solidFill>
                <a:latin typeface="Aptos Display"/>
                <a:ea typeface="Noto Sans CJK SC"/>
              </a:rPr>
              <a:t>   </a:t>
            </a:r>
            <a:r>
              <a:rPr b="1" lang="en-US" sz="3000" spc="-1" strike="noStrike">
                <a:solidFill>
                  <a:srgbClr val="272d45"/>
                </a:solidFill>
                <a:latin typeface="Kanit Light"/>
                <a:ea typeface="Kanit Light"/>
              </a:rPr>
              <a:t>How It Works?</a:t>
            </a:r>
            <a:r>
              <a:rPr b="1" lang="en-US" sz="4000" spc="-1" strike="noStrike">
                <a:solidFill>
                  <a:srgbClr val="000000"/>
                </a:solidFill>
                <a:latin typeface="Aptos Display"/>
                <a:ea typeface="Kanit Light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Rectangle 74"/>
          <p:cNvSpPr/>
          <p:nvPr/>
        </p:nvSpPr>
        <p:spPr>
          <a:xfrm>
            <a:off x="0" y="3081600"/>
            <a:ext cx="124200" cy="7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5" name="Image 0" descr="preencoded.png"/>
          <p:cNvPicPr/>
          <p:nvPr/>
        </p:nvPicPr>
        <p:blipFill>
          <a:blip r:embed="rId1"/>
          <a:stretch/>
        </p:blipFill>
        <p:spPr>
          <a:xfrm>
            <a:off x="5040000" y="180000"/>
            <a:ext cx="6656760" cy="4676760"/>
          </a:xfrm>
          <a:prstGeom prst="rect">
            <a:avLst/>
          </a:prstGeom>
          <a:ln w="0">
            <a:noFill/>
          </a:ln>
        </p:spPr>
      </p:pic>
      <p:sp>
        <p:nvSpPr>
          <p:cNvPr id="356" name=""/>
          <p:cNvSpPr/>
          <p:nvPr/>
        </p:nvSpPr>
        <p:spPr>
          <a:xfrm>
            <a:off x="5786280" y="652680"/>
            <a:ext cx="123048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dow 1"/>
          <p:cNvSpPr txBox="1"/>
          <p:nvPr/>
        </p:nvSpPr>
        <p:spPr>
          <a:xfrm>
            <a:off x="5426280" y="652680"/>
            <a:ext cx="1796760" cy="536760"/>
          </a:xfrm>
          <a:prstGeom prst="rect">
            <a:avLst/>
          </a:prstGeom>
        </p:spPr>
        <p:txBody>
          <a:bodyPr wrap="none" lIns="94680" rIns="94680" tIns="51480" bIns="51480" anchor="ctr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ln w="0">
                  <a:noFill/>
                </a:ln>
                <a:solidFill>
                  <a:srgbClr val="ffffff"/>
                </a:solidFill>
                <a:latin typeface="Noto Sans"/>
                <a:ea typeface="MS Gothic"/>
              </a:rPr>
              <a:t>User Input</a:t>
            </a:r>
            <a:endParaRPr b="0" lang="en-US" sz="2400" spc="-1" strike="noStrike">
              <a:ln w="0">
                <a:noFill/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dow 2"/>
          <p:cNvSpPr txBox="1"/>
          <p:nvPr/>
        </p:nvSpPr>
        <p:spPr>
          <a:xfrm>
            <a:off x="5400000" y="2700000"/>
            <a:ext cx="2260440" cy="536760"/>
          </a:xfrm>
          <a:prstGeom prst="rect">
            <a:avLst/>
          </a:prstGeom>
        </p:spPr>
        <p:txBody>
          <a:bodyPr wrap="none" lIns="94680" rIns="94680" tIns="51480" bIns="51480" anchor="ctr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ln w="0">
                  <a:noFill/>
                </a:ln>
                <a:solidFill>
                  <a:srgbClr val="ffffff"/>
                </a:solidFill>
                <a:latin typeface="Noto Sans"/>
                <a:ea typeface="MS Gothic"/>
              </a:rPr>
              <a:t>Disease Prediction</a:t>
            </a:r>
            <a:endParaRPr b="0" lang="en-US" sz="2400" spc="-1" strike="noStrike">
              <a:ln w="0">
                <a:noFill/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dow 3"/>
          <p:cNvSpPr txBox="1"/>
          <p:nvPr/>
        </p:nvSpPr>
        <p:spPr>
          <a:xfrm>
            <a:off x="5400000" y="1800000"/>
            <a:ext cx="1796760" cy="356760"/>
          </a:xfrm>
          <a:prstGeom prst="rect">
            <a:avLst/>
          </a:prstGeom>
        </p:spPr>
        <p:txBody>
          <a:bodyPr wrap="none" lIns="94680" rIns="94680" tIns="51480" bIns="51480" anchor="ctr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</a:pPr>
            <a:r>
              <a:rPr b="1" lang="en-IN" sz="2400" spc="-1" strike="noStrike">
                <a:ln w="0">
                  <a:noFill/>
                </a:ln>
                <a:solidFill>
                  <a:srgbClr val="ffffff"/>
                </a:solidFill>
                <a:latin typeface="Noto Sans"/>
                <a:ea typeface="MS Gothic"/>
              </a:rPr>
              <a:t>ML Model</a:t>
            </a:r>
            <a:endParaRPr b="0" lang="en-US" sz="2400" spc="-1" strike="noStrike">
              <a:ln w="0">
                <a:noFill/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dow 4"/>
          <p:cNvSpPr txBox="1"/>
          <p:nvPr/>
        </p:nvSpPr>
        <p:spPr>
          <a:xfrm>
            <a:off x="5372640" y="3853080"/>
            <a:ext cx="3344760" cy="536760"/>
          </a:xfrm>
          <a:prstGeom prst="rect">
            <a:avLst/>
          </a:prstGeom>
        </p:spPr>
        <p:txBody>
          <a:bodyPr wrap="none" lIns="94680" rIns="94680" tIns="51480" bIns="51480" anchor="ctr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pc="-1" strike="noStrike">
                <a:ln w="0">
                  <a:noFill/>
                </a:ln>
                <a:solidFill>
                  <a:srgbClr val="ffffff"/>
                </a:solidFill>
                <a:latin typeface="Martel Sans"/>
                <a:ea typeface="Martel Sans"/>
              </a:rPr>
              <a:t>Health recommendations </a:t>
            </a:r>
            <a:endParaRPr b="0" lang="en-US" sz="1500" spc="-1" strike="noStrike">
              <a:ln w="0">
                <a:noFill/>
              </a:ln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PlaceHolder 4"/>
          <p:cNvSpPr/>
          <p:nvPr/>
        </p:nvSpPr>
        <p:spPr>
          <a:xfrm>
            <a:off x="4680000" y="4860360"/>
            <a:ext cx="6931800" cy="17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  <a:ea typeface="Noto Sans CJK SC"/>
              </a:rPr>
              <a:t>   </a:t>
            </a: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The system begins with user symptom input, which is then processed  by our intelligent machine learning models.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   </a:t>
            </a:r>
            <a:r>
              <a:rPr b="0" lang="en-US" sz="1500" spc="-1" strike="noStrike">
                <a:solidFill>
                  <a:srgbClr val="2c3249"/>
                </a:solidFill>
                <a:latin typeface="Martel Sans"/>
                <a:ea typeface="Martel Sans"/>
              </a:rPr>
              <a:t>This leads to a predicted disease and comprehensive health recommendations Like Description,Medicines,Diet Plan,Workouts and Precautions of Disease.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withEffect" fill="hold" presetClass="entr" presetID="10">
                                  <p:stCondLst>
                                    <p:cond delay="5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7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4"/>
          <p:cNvSpPr/>
          <p:nvPr/>
        </p:nvSpPr>
        <p:spPr>
          <a:xfrm>
            <a:off x="0" y="0"/>
            <a:ext cx="1218816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Rectangle 5"/>
          <p:cNvSpPr/>
          <p:nvPr/>
        </p:nvSpPr>
        <p:spPr>
          <a:xfrm>
            <a:off x="558360" y="259920"/>
            <a:ext cx="11163600" cy="592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edede"/>
            </a:solidFill>
          </a:ln>
          <a:effectLst>
            <a:outerShdw algn="tl" blurRad="50760" dir="2700000" dist="37674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ectangle 6"/>
          <p:cNvSpPr/>
          <p:nvPr/>
        </p:nvSpPr>
        <p:spPr>
          <a:xfrm>
            <a:off x="498960" y="2874600"/>
            <a:ext cx="124200" cy="70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5" name="" descr=""/>
          <p:cNvPicPr/>
          <p:nvPr/>
        </p:nvPicPr>
        <p:blipFill>
          <a:blip r:embed="rId1"/>
          <a:stretch/>
        </p:blipFill>
        <p:spPr>
          <a:xfrm>
            <a:off x="656640" y="1620000"/>
            <a:ext cx="4740120" cy="2516760"/>
          </a:xfrm>
          <a:prstGeom prst="rect">
            <a:avLst/>
          </a:prstGeom>
          <a:ln w="0">
            <a:noFill/>
          </a:ln>
        </p:spPr>
      </p:pic>
      <p:pic>
        <p:nvPicPr>
          <p:cNvPr id="366" name="" descr=""/>
          <p:cNvPicPr/>
          <p:nvPr/>
        </p:nvPicPr>
        <p:blipFill>
          <a:blip r:embed="rId2"/>
          <a:stretch/>
        </p:blipFill>
        <p:spPr>
          <a:xfrm>
            <a:off x="5040000" y="1980000"/>
            <a:ext cx="3507840" cy="1796760"/>
          </a:xfrm>
          <a:prstGeom prst="rect">
            <a:avLst/>
          </a:prstGeom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3"/>
          <a:stretch/>
        </p:blipFill>
        <p:spPr>
          <a:xfrm>
            <a:off x="9016200" y="1980000"/>
            <a:ext cx="2320560" cy="1788120"/>
          </a:xfrm>
          <a:prstGeom prst="rect">
            <a:avLst/>
          </a:prstGeom>
          <a:ln w="0">
            <a:noFill/>
          </a:ln>
        </p:spPr>
      </p:pic>
      <p:sp>
        <p:nvSpPr>
          <p:cNvPr id="368" name=""/>
          <p:cNvSpPr/>
          <p:nvPr/>
        </p:nvSpPr>
        <p:spPr>
          <a:xfrm>
            <a:off x="1080000" y="3973320"/>
            <a:ext cx="3776760" cy="21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Support Vector Machine (SVM):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Finds the optimal boundary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separating diseases based 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symptoms.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Performs well with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overlapping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symptom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Offers high accuracy for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structured datasets.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5067720" y="3960000"/>
            <a:ext cx="3569040" cy="21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Decision Tree (DT):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Uses a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tree-like structure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for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decision-making.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Easy to interpret and visualize.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Provides explainable predictions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for users and doctors.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(Depth)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8642160" y="3960000"/>
            <a:ext cx="3234600" cy="21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Random Forest (RF):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Ensemble model combining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multiple decision trees.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Reduces </a:t>
            </a: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overfitting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and increases prediction reliability.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Suitable for complex datasets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with many features.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1260000" y="720000"/>
            <a:ext cx="71967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600" spc="-1" strike="noStrike">
                <a:solidFill>
                  <a:srgbClr val="0e2841"/>
                </a:solidFill>
                <a:latin typeface="Aptos Display"/>
                <a:ea typeface="DejaVu Sans"/>
              </a:rPr>
              <a:t>Machine Learning Models: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 50"/>
          <p:cNvSpPr/>
          <p:nvPr/>
        </p:nvSpPr>
        <p:spPr>
          <a:xfrm>
            <a:off x="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ectangle 52"/>
          <p:cNvSpPr/>
          <p:nvPr/>
        </p:nvSpPr>
        <p:spPr>
          <a:xfrm>
            <a:off x="36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159120" y="-1080000"/>
            <a:ext cx="4498920" cy="436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rgbClr val="0e2841"/>
                </a:solidFill>
                <a:latin typeface="Aptos Display"/>
              </a:rPr>
              <a:t>Dataset Details: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900000" y="3600000"/>
            <a:ext cx="9719280" cy="28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7222"/>
          </a:bodyPr>
          <a:p>
            <a:pPr indent="0">
              <a:lnSpc>
                <a:spcPct val="90000"/>
              </a:lnSpc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  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The dataset used for training and testing consists of symptoms and corresponding diseases.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It is derived from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publicly available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healthcare data and manually curated medical sources.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Dataset Overview: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Number of Records: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4,920 entries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Number of Symptoms: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132 distinct symptoms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Number of Diseases: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41 disease categories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Format: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CSV (Comma-Separated Values)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buNone/>
            </a:pP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Source: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Open-source medical symptom datasets (e.g., </a:t>
            </a:r>
            <a:r>
              <a:rPr b="1" lang="en-US" sz="1800" spc="-1" strike="noStrike">
                <a:solidFill>
                  <a:srgbClr val="0e2841"/>
                </a:solidFill>
                <a:latin typeface="Aptos"/>
              </a:rPr>
              <a:t>Kaggle:</a:t>
            </a: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 “Disease Prediction Dataset”)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76" name="Table 6"/>
          <p:cNvGraphicFramePr/>
          <p:nvPr/>
        </p:nvGraphicFramePr>
        <p:xfrm>
          <a:off x="4658760" y="239400"/>
          <a:ext cx="6678000" cy="3335400"/>
        </p:xfrm>
        <a:graphic>
          <a:graphicData uri="http://schemas.openxmlformats.org/drawingml/2006/table">
            <a:tbl>
              <a:tblPr/>
              <a:tblGrid>
                <a:gridCol w="4889520"/>
                <a:gridCol w="1788840"/>
              </a:tblGrid>
              <a:tr h="595800">
                <a:tc gridSpan="2"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           </a:t>
                      </a:r>
                      <a:r>
                        <a:rPr b="1" lang="en-IN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Symptoms                   Target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dbf4c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06240"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itching, skin rash, joint pain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Fungal infection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</a:tr>
              <a:tr h="600840"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fatigue, cough, high fever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Typhoid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</a:tr>
              <a:tr h="648000"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chest pain, shortness of breath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Heart Disease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</a:tr>
              <a:tr h="704160"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Fever, Headache, Muscle pain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  <a:tc>
                  <a:txBody>
                    <a:bodyPr lIns="7560" rIns="756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Dengue Fever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7560" marR="756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b7e99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51"/>
          <p:cNvSpPr/>
          <p:nvPr/>
        </p:nvSpPr>
        <p:spPr>
          <a:xfrm>
            <a:off x="558360" y="259920"/>
            <a:ext cx="11163600" cy="5929200"/>
          </a:xfrm>
          <a:prstGeom prst="rect">
            <a:avLst/>
          </a:prstGeom>
          <a:noFill/>
          <a:ln w="12700">
            <a:noFill/>
          </a:ln>
          <a:effectLst>
            <a:outerShdw algn="tl" blurRad="50760" dir="2700000" dist="37674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2400" spc="-1" strike="noStrike">
                <a:solidFill>
                  <a:srgbClr val="000000"/>
                </a:solidFill>
                <a:latin typeface="Noto Sans"/>
                <a:ea typeface="DejaVu Sans"/>
              </a:rPr>
              <a:t>	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itle 1"/>
          <p:cNvSpPr/>
          <p:nvPr/>
        </p:nvSpPr>
        <p:spPr>
          <a:xfrm>
            <a:off x="558360" y="517320"/>
            <a:ext cx="10738440" cy="14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</a:pPr>
            <a:r>
              <a:rPr b="1" lang="en-US" sz="3600" spc="-1" strike="noStrike">
                <a:solidFill>
                  <a:srgbClr val="0e2841"/>
                </a:solidFill>
                <a:latin typeface="Aptos Display"/>
                <a:ea typeface="DejaVu Sans"/>
              </a:rPr>
              <a:t>Tech Stack: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9" name="" descr=""/>
          <p:cNvPicPr/>
          <p:nvPr/>
        </p:nvPicPr>
        <p:blipFill>
          <a:blip r:embed="rId1"/>
          <a:stretch/>
        </p:blipFill>
        <p:spPr>
          <a:xfrm>
            <a:off x="201960" y="1980000"/>
            <a:ext cx="5194800" cy="1796760"/>
          </a:xfrm>
          <a:prstGeom prst="rect">
            <a:avLst/>
          </a:prstGeom>
          <a:ln w="0">
            <a:noFill/>
          </a:ln>
        </p:spPr>
      </p:pic>
      <p:pic>
        <p:nvPicPr>
          <p:cNvPr id="380" name="" descr=""/>
          <p:cNvPicPr/>
          <p:nvPr/>
        </p:nvPicPr>
        <p:blipFill>
          <a:blip r:embed="rId2"/>
          <a:stretch/>
        </p:blipFill>
        <p:spPr>
          <a:xfrm>
            <a:off x="197280" y="4049640"/>
            <a:ext cx="2139480" cy="2139480"/>
          </a:xfrm>
          <a:prstGeom prst="rect">
            <a:avLst/>
          </a:prstGeom>
          <a:ln w="0">
            <a:noFill/>
          </a:ln>
        </p:spPr>
      </p:pic>
      <p:pic>
        <p:nvPicPr>
          <p:cNvPr id="381" name="" descr=""/>
          <p:cNvPicPr/>
          <p:nvPr/>
        </p:nvPicPr>
        <p:blipFill>
          <a:blip r:embed="rId3"/>
          <a:stretch/>
        </p:blipFill>
        <p:spPr>
          <a:xfrm>
            <a:off x="8662680" y="3960000"/>
            <a:ext cx="3214080" cy="2156760"/>
          </a:xfrm>
          <a:prstGeom prst="rect">
            <a:avLst/>
          </a:prstGeom>
          <a:ln w="0">
            <a:noFill/>
          </a:ln>
        </p:spPr>
      </p:pic>
      <p:pic>
        <p:nvPicPr>
          <p:cNvPr id="382" name="" descr=""/>
          <p:cNvPicPr/>
          <p:nvPr/>
        </p:nvPicPr>
        <p:blipFill>
          <a:blip r:embed="rId4"/>
          <a:stretch/>
        </p:blipFill>
        <p:spPr>
          <a:xfrm>
            <a:off x="6480000" y="4140000"/>
            <a:ext cx="2336760" cy="2049120"/>
          </a:xfrm>
          <a:prstGeom prst="rect">
            <a:avLst/>
          </a:prstGeom>
          <a:ln w="0">
            <a:noFill/>
          </a:ln>
        </p:spPr>
      </p:pic>
      <p:pic>
        <p:nvPicPr>
          <p:cNvPr id="383" name="" descr=""/>
          <p:cNvPicPr/>
          <p:nvPr/>
        </p:nvPicPr>
        <p:blipFill>
          <a:blip r:embed="rId5"/>
          <a:stretch/>
        </p:blipFill>
        <p:spPr>
          <a:xfrm>
            <a:off x="5400000" y="1872360"/>
            <a:ext cx="3926160" cy="1976760"/>
          </a:xfrm>
          <a:prstGeom prst="rect">
            <a:avLst/>
          </a:prstGeom>
          <a:ln w="0">
            <a:noFill/>
          </a:ln>
        </p:spPr>
      </p:pic>
      <p:pic>
        <p:nvPicPr>
          <p:cNvPr id="384" name="" descr=""/>
          <p:cNvPicPr/>
          <p:nvPr/>
        </p:nvPicPr>
        <p:blipFill>
          <a:blip r:embed="rId6"/>
          <a:stretch/>
        </p:blipFill>
        <p:spPr>
          <a:xfrm>
            <a:off x="9329400" y="2340000"/>
            <a:ext cx="2392560" cy="1076760"/>
          </a:xfrm>
          <a:prstGeom prst="rect">
            <a:avLst/>
          </a:prstGeom>
          <a:ln w="0">
            <a:noFill/>
          </a:ln>
        </p:spPr>
      </p:pic>
      <p:pic>
        <p:nvPicPr>
          <p:cNvPr id="385" name="" descr=""/>
          <p:cNvPicPr/>
          <p:nvPr/>
        </p:nvPicPr>
        <p:blipFill>
          <a:blip r:embed="rId7"/>
          <a:stretch/>
        </p:blipFill>
        <p:spPr>
          <a:xfrm>
            <a:off x="4500000" y="4140000"/>
            <a:ext cx="1616760" cy="1976760"/>
          </a:xfrm>
          <a:prstGeom prst="rect">
            <a:avLst/>
          </a:prstGeom>
          <a:ln w="0">
            <a:noFill/>
          </a:ln>
        </p:spPr>
      </p:pic>
      <p:pic>
        <p:nvPicPr>
          <p:cNvPr id="386" name="" descr=""/>
          <p:cNvPicPr/>
          <p:nvPr/>
        </p:nvPicPr>
        <p:blipFill>
          <a:blip r:embed="rId8"/>
          <a:stretch/>
        </p:blipFill>
        <p:spPr>
          <a:xfrm>
            <a:off x="2073960" y="3960000"/>
            <a:ext cx="2422800" cy="233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ctangle 74"/>
          <p:cNvSpPr/>
          <p:nvPr/>
        </p:nvSpPr>
        <p:spPr>
          <a:xfrm>
            <a:off x="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Rectangle 76"/>
          <p:cNvSpPr/>
          <p:nvPr/>
        </p:nvSpPr>
        <p:spPr>
          <a:xfrm>
            <a:off x="36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9" name="Group 78"/>
          <p:cNvGrpSpPr/>
          <p:nvPr/>
        </p:nvGrpSpPr>
        <p:grpSpPr>
          <a:xfrm>
            <a:off x="-21960" y="508680"/>
            <a:ext cx="5213880" cy="6235560"/>
            <a:chOff x="-21960" y="508680"/>
            <a:chExt cx="5213880" cy="6235560"/>
          </a:xfrm>
        </p:grpSpPr>
        <p:sp>
          <p:nvSpPr>
            <p:cNvPr id="390" name="Freeform: Shape 79"/>
            <p:cNvSpPr/>
            <p:nvPr/>
          </p:nvSpPr>
          <p:spPr>
            <a:xfrm>
              <a:off x="-21960" y="508680"/>
              <a:ext cx="5183280" cy="6235560"/>
            </a:xfrm>
            <a:custGeom>
              <a:avLst/>
              <a:gdLst>
                <a:gd name="textAreaLeft" fmla="*/ 0 w 5183280"/>
                <a:gd name="textAreaRight" fmla="*/ 5183640 w 5183280"/>
                <a:gd name="textAreaTop" fmla="*/ 0 h 6235560"/>
                <a:gd name="textAreaBottom" fmla="*/ 6235920 h 6235560"/>
              </a:gdLst>
              <a:ahLst/>
              <a:rect l="textAreaLeft" t="textAreaTop" r="textAreaRight" b="textAreaBottom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" name="Freeform: Shape 80"/>
            <p:cNvSpPr/>
            <p:nvPr/>
          </p:nvSpPr>
          <p:spPr>
            <a:xfrm>
              <a:off x="-21960" y="555120"/>
              <a:ext cx="5211720" cy="6103440"/>
            </a:xfrm>
            <a:custGeom>
              <a:avLst/>
              <a:gdLst>
                <a:gd name="textAreaLeft" fmla="*/ 0 w 5211720"/>
                <a:gd name="textAreaRight" fmla="*/ 5212080 w 5211720"/>
                <a:gd name="textAreaTop" fmla="*/ 0 h 6103440"/>
                <a:gd name="textAreaBottom" fmla="*/ 6103800 h 6103440"/>
              </a:gdLst>
              <a:ahLst/>
              <a:rect l="textAreaLeft" t="textAreaTop" r="textAreaRight" b="textAreaBottom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" name="Freeform: Shape 81"/>
            <p:cNvSpPr/>
            <p:nvPr/>
          </p:nvSpPr>
          <p:spPr>
            <a:xfrm>
              <a:off x="-21960" y="577080"/>
              <a:ext cx="5213880" cy="6096240"/>
            </a:xfrm>
            <a:custGeom>
              <a:avLst/>
              <a:gdLst>
                <a:gd name="textAreaLeft" fmla="*/ 0 w 5213880"/>
                <a:gd name="textAreaRight" fmla="*/ 5214240 w 5213880"/>
                <a:gd name="textAreaTop" fmla="*/ 0 h 6096240"/>
                <a:gd name="textAreaBottom" fmla="*/ 6096600 h 6096240"/>
              </a:gdLst>
              <a:ahLst/>
              <a:rect l="textAreaLeft" t="textAreaTop" r="textAreaRight" b="textAreaBottom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3" name="Freeform: Shape 82"/>
            <p:cNvSpPr/>
            <p:nvPr/>
          </p:nvSpPr>
          <p:spPr>
            <a:xfrm>
              <a:off x="-21960" y="577080"/>
              <a:ext cx="5213880" cy="6096240"/>
            </a:xfrm>
            <a:custGeom>
              <a:avLst/>
              <a:gdLst>
                <a:gd name="textAreaLeft" fmla="*/ 0 w 5213880"/>
                <a:gd name="textAreaRight" fmla="*/ 5214240 w 5213880"/>
                <a:gd name="textAreaTop" fmla="*/ 0 h 6096240"/>
                <a:gd name="textAreaBottom" fmla="*/ 6096600 h 6096240"/>
              </a:gdLst>
              <a:ahLst/>
              <a:rect l="textAreaLeft" t="textAreaTop" r="textAreaRight" b="textAreaBottom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640080" y="1243080"/>
            <a:ext cx="3851640" cy="436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rgbClr val="0e2841"/>
                </a:solidFill>
                <a:latin typeface="Aptos Display"/>
              </a:rPr>
              <a:t>Conclusion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6172200" y="804600"/>
            <a:ext cx="5217120" cy="522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The Smart Health Advisor Using Machine Learning demonstrates the power of AI in revolutionizing healthcare.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By predicting diseases from symptoms and providing personalized recommendations, it helps users make informed health decisions.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Aft>
                <a:spcPts val="601"/>
              </a:spcAft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The system is fast, affordable, and user-friendly, serving as an early health warning and prevention tool — bridging the gap between patients and medical experts.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Aft>
                <a:spcPts val="601"/>
              </a:spcAft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This project highlights how machine learning can promote preventive healthcare, enhance accessibility, and support global well-being.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withEffect" fill="hold" presetClass="entr" presetID="10">
                                  <p:stCondLst>
                                    <p:cond delay="500"/>
                                  </p:stCondLst>
                                  <p:iterate type="el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7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21"/>
          <p:cNvSpPr/>
          <p:nvPr/>
        </p:nvSpPr>
        <p:spPr>
          <a:xfrm>
            <a:off x="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ectangle 23"/>
          <p:cNvSpPr/>
          <p:nvPr/>
        </p:nvSpPr>
        <p:spPr>
          <a:xfrm>
            <a:off x="360" y="0"/>
            <a:ext cx="12187800" cy="6854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8" name="Group 25"/>
          <p:cNvGrpSpPr/>
          <p:nvPr/>
        </p:nvGrpSpPr>
        <p:grpSpPr>
          <a:xfrm>
            <a:off x="6100920" y="52920"/>
            <a:ext cx="6089400" cy="6801120"/>
            <a:chOff x="6100920" y="52920"/>
            <a:chExt cx="6089400" cy="6801120"/>
          </a:xfrm>
        </p:grpSpPr>
        <p:sp>
          <p:nvSpPr>
            <p:cNvPr id="399" name="Freeform: Shape 26"/>
            <p:cNvSpPr/>
            <p:nvPr/>
          </p:nvSpPr>
          <p:spPr>
            <a:xfrm>
              <a:off x="6100920" y="52920"/>
              <a:ext cx="6089400" cy="6801120"/>
            </a:xfrm>
            <a:custGeom>
              <a:avLst/>
              <a:gdLst>
                <a:gd name="textAreaLeft" fmla="*/ 0 w 6089400"/>
                <a:gd name="textAreaRight" fmla="*/ 6089760 w 6089400"/>
                <a:gd name="textAreaTop" fmla="*/ 0 h 6801120"/>
                <a:gd name="textAreaBottom" fmla="*/ 6801480 h 680112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5000"/>
                  </a:srgbClr>
                </a:gs>
                <a:gs pos="100000">
                  <a:srgbClr val="156082">
                    <a:alpha val="5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0" name="Freeform: Shape 27"/>
            <p:cNvSpPr/>
            <p:nvPr/>
          </p:nvSpPr>
          <p:spPr>
            <a:xfrm>
              <a:off x="6100920" y="52920"/>
              <a:ext cx="6089400" cy="6801120"/>
            </a:xfrm>
            <a:custGeom>
              <a:avLst/>
              <a:gdLst>
                <a:gd name="textAreaLeft" fmla="*/ 0 w 6089400"/>
                <a:gd name="textAreaRight" fmla="*/ 6089760 w 6089400"/>
                <a:gd name="textAreaTop" fmla="*/ 0 h 6801120"/>
                <a:gd name="textAreaBottom" fmla="*/ 6801480 h 6801120"/>
              </a:gdLst>
              <a:ahLst/>
              <a:rect l="textAreaLeft" t="textAreaTop" r="textAreaRight" b="textAreaBottom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5000"/>
                  </a:srgbClr>
                </a:gs>
                <a:gs pos="100000">
                  <a:srgbClr val="156082">
                    <a:alpha val="5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1" name="Freeform: Shape 28"/>
            <p:cNvSpPr/>
            <p:nvPr/>
          </p:nvSpPr>
          <p:spPr>
            <a:xfrm>
              <a:off x="6100920" y="52920"/>
              <a:ext cx="6089400" cy="6801120"/>
            </a:xfrm>
            <a:custGeom>
              <a:avLst/>
              <a:gdLst>
                <a:gd name="textAreaLeft" fmla="*/ 0 w 6089400"/>
                <a:gd name="textAreaRight" fmla="*/ 6089760 w 6089400"/>
                <a:gd name="textAreaTop" fmla="*/ 0 h 6801120"/>
                <a:gd name="textAreaBottom" fmla="*/ 6801480 h 6801120"/>
              </a:gdLst>
              <a:ahLst/>
              <a:rect l="textAreaLeft" t="textAreaTop" r="textAreaRight" b="textAreaBottom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2" name="Freeform: Shape 29"/>
            <p:cNvSpPr/>
            <p:nvPr/>
          </p:nvSpPr>
          <p:spPr>
            <a:xfrm>
              <a:off x="6100920" y="52920"/>
              <a:ext cx="6089400" cy="6801120"/>
            </a:xfrm>
            <a:custGeom>
              <a:avLst/>
              <a:gdLst>
                <a:gd name="textAreaLeft" fmla="*/ 0 w 6089400"/>
                <a:gd name="textAreaRight" fmla="*/ 6089760 w 6089400"/>
                <a:gd name="textAreaTop" fmla="*/ 0 h 6801120"/>
                <a:gd name="textAreaBottom" fmla="*/ 6801480 h 6801120"/>
              </a:gdLst>
              <a:ahLst/>
              <a:rect l="textAreaLeft" t="textAreaTop" r="textAreaRight" b="textAreaBottom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5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03" name="Graphic 6" descr="Smiling Face with No Fill"/>
          <p:cNvPicPr/>
          <p:nvPr/>
        </p:nvPicPr>
        <p:blipFill>
          <a:blip r:embed="rId1"/>
          <a:stretch/>
        </p:blipFill>
        <p:spPr>
          <a:xfrm>
            <a:off x="7729560" y="1859040"/>
            <a:ext cx="3817080" cy="3817080"/>
          </a:xfrm>
          <a:prstGeom prst="rect">
            <a:avLst/>
          </a:prstGeom>
          <a:ln w="0">
            <a:noFill/>
          </a:ln>
        </p:spPr>
      </p:pic>
      <p:sp>
        <p:nvSpPr>
          <p:cNvPr id="404" name=""/>
          <p:cNvSpPr/>
          <p:nvPr/>
        </p:nvSpPr>
        <p:spPr>
          <a:xfrm>
            <a:off x="1713240" y="3060000"/>
            <a:ext cx="404532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0e2841"/>
                </a:solidFill>
                <a:latin typeface="Aptos Display"/>
                <a:ea typeface="DejaVu Sans"/>
              </a:rPr>
              <a:t>Thank you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LibreOffice/24.2.7.2$Linux_X86_64 LibreOffice_project/420$Build-2</Application>
  <AppVersion>15.0000</AppVersion>
  <Words>506</Words>
  <Paragraphs>53</Paragraphs>
  <Company>Capgemini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2025-01-18T18:40:40Z</dcterms:created>
  <dc:creator>Kumar Rana, Anil</dc:creator>
  <dc:description/>
  <dc:language>en-IN</dc:language>
  <cp:lastModifiedBy/>
  <dcterms:modified xsi:type="dcterms:W3CDTF">2026-02-06T23:14:45Z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